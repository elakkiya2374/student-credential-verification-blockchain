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63" r:id="rId5"/>
    <p:sldId id="284" r:id="rId6"/>
    <p:sldId id="278" r:id="rId7"/>
    <p:sldId id="281" r:id="rId8"/>
    <p:sldId id="282" r:id="rId9"/>
    <p:sldId id="270" r:id="rId10"/>
    <p:sldId id="271" r:id="rId11"/>
    <p:sldId id="272" r:id="rId12"/>
    <p:sldId id="273" r:id="rId13"/>
    <p:sldId id="274" r:id="rId14"/>
    <p:sldId id="280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AB7D-8BB9-6EE6-9997-D03B0DC33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8A7494-130F-19F1-A69F-1A335F730A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E361D-D02B-C4B0-E83E-C38990016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0C42E-8385-CEDB-2C8E-3DC2CCECF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02687-E8B9-E100-DEFB-1FE34716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180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28EC3-4200-E5AE-CF1D-EC46D81F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F2CBF-AFD5-5A75-0D69-8A622E082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81281-6B3A-78F8-EEA0-6E1F5B302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0F86F-6448-83A8-3D4E-CF8A747B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F1FBF-B981-CE37-49E3-7034BA9D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06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43B9D-EE5B-5124-1075-19CE2834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65A9C-9B9A-6D87-728B-EB785176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52734-9404-67AF-CB5D-1D291000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6FE85-0FB3-25BC-C67F-B7686D79D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EF815-8B24-92B7-427E-14A5E690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17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86D0-5228-F270-33C1-917494BAF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846B2-7DB2-31AF-C464-C664446A09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231FF-EC0D-0721-B0C9-F2426CF7C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88688D-C730-DFB1-4476-D1F47C5B8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DB2FF-6E88-094F-DBF3-6E902888A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E9B5E-7583-1E94-DF70-248C283FA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73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EC9B7-E36B-D6DC-6A42-96E686559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82761-5F52-591C-6CD5-59B425F3A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86DBC-80B9-9988-50E5-85F0C0BD2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EC2AC1-52F5-E671-61E5-2E4350C32D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0E078-8C0C-28E6-9C40-B65883CD5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626DEE-8C19-03EB-77F0-193074A0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5A9A24-0FBE-84C8-5268-1206E512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97EE16-70AE-3B54-6394-3A551A8D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175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54DBF-67E3-1FFC-9707-AB6B8958E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24381-D1E8-3445-8A39-EC06F041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B937B-9659-AB6F-526F-6F7A1C45F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3583F-4CF1-97A5-DAF7-AFFB142F4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950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D51549-76D3-3AF0-E57C-14048128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A7DAE-466E-25E2-87BD-4F3E5B138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7C250-7AD3-8E6F-7264-4C9D58BFB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18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5BAD3-0B18-ECFC-F9CE-F4125B8E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94AE0-D68B-2D90-A3C3-6306C616B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1A5B3-C09E-A083-A5D1-D59B5A52B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28D4DB-8A75-306C-2EE8-5B2FF00E6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824C9-2CE4-9EC2-7323-D9C3C14FB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6C2A7-17A3-6B17-0BB2-22BAE181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4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F8168-7E08-C0B0-5147-1BCA3FA68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6AD66E-416D-7885-7C19-A436A04229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F4DFEA-A281-8FBC-705E-6F7B05B7E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B2467-BAED-1F71-89F5-A519F8473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F666E-CCD3-BC19-B94A-00068B5A9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6752E8-F981-7229-61DC-6BF11E906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7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F5C25-D641-7A20-8EA0-E6B244806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0523C-3583-CED6-9768-1B4E78FB0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0A8C93-BB43-5CB9-4E66-C74B8A82E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CF6D9-8EC9-441D-3205-2D259F8C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FD0B3-021F-0BAB-B1BF-6720C7A3C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7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FDEF6B-D5AE-1670-3652-C16B6A42A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4A32D-FFA5-5D24-5768-D7AFE3B7C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ACBF10-9EE8-C608-D6FF-8E0C1367A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43928-5ACC-6F2F-57FD-DDAAA1F9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62A91-34EB-C487-C21C-68725D050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945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62E267-D8C7-DB34-ABCB-9C39A2266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3DC5-0013-3762-2B44-1A556179EF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0CD5-7BC4-A605-7688-B6B178F81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DA4B6-94C9-4141-BE66-979112BEF105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644C4-DEEA-3238-A330-E8BC235B1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C8AE3-91D7-016B-C533-B2BEB4F9A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9F98B-E4A0-4BEB-A606-CEA1414637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jert.org/blockchain-based-academic-credential-verification-system" TargetMode="External"/><Relationship Id="rId2" Type="http://schemas.openxmlformats.org/officeDocument/2006/relationships/hyperlink" Target="https://pmc.ncbi.nlm.nih.gov/articles/PMC11920411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rp.org/journal/paperinformation?paperid=13638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CF219B-64C5-BF87-3823-09493E710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48" y="2231429"/>
            <a:ext cx="10640754" cy="1156800"/>
          </a:xfrm>
        </p:spPr>
        <p:txBody>
          <a:bodyPr anchor="b"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</a:t>
            </a:r>
            <a:br>
              <a:rPr lang="en-US" sz="3200" dirty="0">
                <a:solidFill>
                  <a:schemeClr val="tx2"/>
                </a:solidFill>
              </a:rPr>
            </a:br>
            <a:endParaRPr lang="en-IN" sz="3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5D3F3-8273-0724-8E13-B9FB99C20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6890" y="4706670"/>
            <a:ext cx="3377892" cy="1776988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 algn="l"/>
            <a:endParaRPr lang="en-US" sz="2000" dirty="0">
              <a:solidFill>
                <a:schemeClr val="tx2"/>
              </a:solidFill>
            </a:endParaRPr>
          </a:p>
          <a:p>
            <a:pPr algn="l"/>
            <a:r>
              <a:rPr lang="en-US" sz="19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Elakkiya M [6113231041030]</a:t>
            </a:r>
          </a:p>
          <a:p>
            <a:pPr algn="l"/>
            <a:r>
              <a:rPr lang="en-US" sz="19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Janani Sri M [6113231041050]</a:t>
            </a:r>
          </a:p>
          <a:p>
            <a:pPr algn="l"/>
            <a:r>
              <a:rPr lang="en-US" sz="19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Jayadharshini S [6113231041052]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 descr="A close-up of a sign">
            <a:extLst>
              <a:ext uri="{FF2B5EF4-FFF2-40B4-BE49-F238E27FC236}">
                <a16:creationId xmlns:a16="http://schemas.microsoft.com/office/drawing/2014/main" id="{92EB37C6-E980-5840-BCDE-3FF953A98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15" y="305742"/>
            <a:ext cx="11525864" cy="1818537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330904A5-8A32-DA64-B94F-D0E88E2D8466}"/>
              </a:ext>
            </a:extLst>
          </p:cNvPr>
          <p:cNvSpPr txBox="1">
            <a:spLocks/>
          </p:cNvSpPr>
          <p:nvPr/>
        </p:nvSpPr>
        <p:spPr>
          <a:xfrm>
            <a:off x="647748" y="3209761"/>
            <a:ext cx="10640754" cy="115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Digital Portfolio &amp; Credential Verification System</a:t>
            </a:r>
          </a:p>
          <a:p>
            <a:pPr>
              <a:lnSpc>
                <a:spcPct val="120000"/>
              </a:lnSpc>
            </a:pPr>
            <a:r>
              <a:rPr lang="en-IN" sz="6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Blockchain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15C06BC-4685-F764-F545-8986A328741F}"/>
              </a:ext>
            </a:extLst>
          </p:cNvPr>
          <p:cNvSpPr txBox="1">
            <a:spLocks/>
          </p:cNvSpPr>
          <p:nvPr/>
        </p:nvSpPr>
        <p:spPr>
          <a:xfrm>
            <a:off x="1922321" y="4706670"/>
            <a:ext cx="2623457" cy="2068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algn="l"/>
            <a:r>
              <a:rPr lang="en-US" sz="1600" b="1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US" sz="1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Ms.M.R.Kavitha M.E.,</a:t>
            </a:r>
          </a:p>
          <a:p>
            <a:pPr algn="l"/>
            <a:r>
              <a:rPr lang="en-US" sz="16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MEC – AP/CSE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E28EA3-0F7D-C5A6-432F-92AC3108EE4A}"/>
              </a:ext>
            </a:extLst>
          </p:cNvPr>
          <p:cNvSpPr/>
          <p:nvPr/>
        </p:nvSpPr>
        <p:spPr>
          <a:xfrm>
            <a:off x="11449725" y="6483658"/>
            <a:ext cx="818108" cy="2110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3531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A987-0BA3-546F-35B7-C74A303AF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br>
              <a:rPr lang="en-US" sz="3200" b="1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9887-782B-A2F6-E0B4-A1C47D346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2340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certificate verification systems are slow, centralized, and vulnerable to forgery. This project introduces a secure and decentralized credential verification system using Blockchain, IPFS, SHA-256 hashing, and QR code technology.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Certificate hashes are stored on the Polygon Blockchain, while files are securely stored in IPFS. Multi-signature faculty approval ensures authenticity, and QR codes enable instant real-time verification.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security, transparency, scalability, and provides tamper-proof academic credential management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DC6A26-663D-E46E-F938-908E1E95E655}"/>
              </a:ext>
            </a:extLst>
          </p:cNvPr>
          <p:cNvSpPr/>
          <p:nvPr/>
        </p:nvSpPr>
        <p:spPr>
          <a:xfrm>
            <a:off x="11471863" y="6410788"/>
            <a:ext cx="818108" cy="2110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5155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618FB-09E4-92EE-6076-19500A6D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45FB8-339E-BCE0-EB37-23A840A69E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credential verification delays hiring by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2-4 weeks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through phone calls/emails to universities.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of certificates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are suspected fake globally, costing companies millions. Current centralized systems suffer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single-point failures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data tampering, and lack student ownership. Research prototypes exist but remain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non-production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with poor mobile UX and institutional data lock-in. This creates urgent need for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instant, secure, student-controlled verification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BCDF8-EFBC-C12B-358B-93D6F1BF2DD1}"/>
              </a:ext>
            </a:extLst>
          </p:cNvPr>
          <p:cNvSpPr txBox="1"/>
          <p:nvPr/>
        </p:nvSpPr>
        <p:spPr>
          <a:xfrm>
            <a:off x="11645900" y="6350000"/>
            <a:ext cx="8001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9740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62054-9E86-2F7A-95A4-F5F9B103F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09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DB8ED-B1EA-F5FD-E4AD-8310176237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722" y="1295400"/>
            <a:ext cx="11234057" cy="4963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Certificate Upload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&amp; drop upload ,SHA-256 hash generation , Stored in IPFS     (Decentralized CID).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Multi-Signature Approval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2-of-3 approval mechanism , Smart contract on Polygon Mumbai , Immutable blockchain record created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QR-Enabled Digital Portfolio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PDF portfolio generated , QR linked to blockchain transaction, Portable &amp; shareable credential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Mobile Verification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QR → Fetch blockchain data , Hash re-validation , VALID  – Tamper Proof Record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AD2107-3823-AE68-FB73-E5E9A2FAFA29}"/>
              </a:ext>
            </a:extLst>
          </p:cNvPr>
          <p:cNvSpPr/>
          <p:nvPr/>
        </p:nvSpPr>
        <p:spPr>
          <a:xfrm>
            <a:off x="11449725" y="6259286"/>
            <a:ext cx="818108" cy="49318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09341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44FA-5FB9-0B27-FB06-DA2DE7AA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84F68BB-3AEA-BBBA-B656-0A560DC38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134049"/>
              </p:ext>
            </p:extLst>
          </p:nvPr>
        </p:nvGraphicFramePr>
        <p:xfrm>
          <a:off x="838200" y="1410152"/>
          <a:ext cx="10570029" cy="4905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6024">
                  <a:extLst>
                    <a:ext uri="{9D8B030D-6E8A-4147-A177-3AD203B41FA5}">
                      <a16:colId xmlns:a16="http://schemas.microsoft.com/office/drawing/2014/main" val="2682628357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446677708"/>
                    </a:ext>
                  </a:extLst>
                </a:gridCol>
                <a:gridCol w="1915885">
                  <a:extLst>
                    <a:ext uri="{9D8B030D-6E8A-4147-A177-3AD203B41FA5}">
                      <a16:colId xmlns:a16="http://schemas.microsoft.com/office/drawing/2014/main" val="7078933"/>
                    </a:ext>
                  </a:extLst>
                </a:gridCol>
                <a:gridCol w="2064659">
                  <a:extLst>
                    <a:ext uri="{9D8B030D-6E8A-4147-A177-3AD203B41FA5}">
                      <a16:colId xmlns:a16="http://schemas.microsoft.com/office/drawing/2014/main" val="1110043770"/>
                    </a:ext>
                  </a:extLst>
                </a:gridCol>
                <a:gridCol w="1738086">
                  <a:extLst>
                    <a:ext uri="{9D8B030D-6E8A-4147-A177-3AD203B41FA5}">
                      <a16:colId xmlns:a16="http://schemas.microsoft.com/office/drawing/2014/main" val="460398859"/>
                    </a:ext>
                  </a:extLst>
                </a:gridCol>
                <a:gridCol w="2021775">
                  <a:extLst>
                    <a:ext uri="{9D8B030D-6E8A-4147-A177-3AD203B41FA5}">
                      <a16:colId xmlns:a16="http://schemas.microsoft.com/office/drawing/2014/main" val="4025223610"/>
                    </a:ext>
                  </a:extLst>
                </a:gridCol>
              </a:tblGrid>
              <a:tr h="516619">
                <a:tc>
                  <a:txBody>
                    <a:bodyPr/>
                    <a:lstStyle/>
                    <a:p>
                      <a:r>
                        <a:rPr lang="en-US" dirty="0"/>
                        <a:t>S.no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 &amp;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773896"/>
                  </a:ext>
                </a:extLst>
              </a:tr>
              <a:tr h="665939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Kumar &amp; Singh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IEEE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Blockchain Credential Verification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Immutable hash storage eliminates third-party verification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IPFS — can't handle large certificate files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0833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Zhang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Springer InfoSec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Blockchain + QR Verification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QR linked to blockchain enables instant access</a:t>
                      </a:r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No decentralized storage, no multi-level validation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394303"/>
                  </a:ext>
                </a:extLst>
              </a:tr>
              <a:tr h="642257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Patel &amp; Mehta (2025)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ACM Digital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Existing Digital Credential Platforms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DigiLocker, Certopus, Truscholar improve accessibility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Centralized — breach risk, no real-time verification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24246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4846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8C09-07D7-D859-8EC0-C5749783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- BASE PAPER ANALYSIS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8277C-F589-AA99-C578-155C635A0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CONTRIBUTIONS: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QR verification workflow (30% faster)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Proof-of-Stake blockchain scalability  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Mobile-first employer validation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IMPROVEMENTS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Complete portfolios (vs single certs)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• Student wallet ownership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BDD1C-32D6-CCB9-6C79-90B855B0E202}"/>
              </a:ext>
            </a:extLst>
          </p:cNvPr>
          <p:cNvSpPr txBox="1"/>
          <p:nvPr/>
        </p:nvSpPr>
        <p:spPr>
          <a:xfrm>
            <a:off x="11817350" y="6286500"/>
            <a:ext cx="74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271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09D8D-AE18-A4A1-90C8-AEF51B0DB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279400"/>
            <a:ext cx="10515600" cy="1284288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CC10E2-D874-EDC5-CF7A-5E4A8193AB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6204"/>
            <a:ext cx="12192000" cy="6181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F9BFED-E7BC-AF7C-ED38-4DCA56BB75AC}"/>
              </a:ext>
            </a:extLst>
          </p:cNvPr>
          <p:cNvSpPr txBox="1"/>
          <p:nvPr/>
        </p:nvSpPr>
        <p:spPr>
          <a:xfrm>
            <a:off x="11811000" y="636270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234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0EC4E7-264E-759A-1360-AA7EDE7109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928DE8-40E4-9B96-19B1-851ED48F910A}"/>
              </a:ext>
            </a:extLst>
          </p:cNvPr>
          <p:cNvSpPr txBox="1"/>
          <p:nvPr/>
        </p:nvSpPr>
        <p:spPr>
          <a:xfrm>
            <a:off x="11760200" y="6488668"/>
            <a:ext cx="66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88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6CDE9-2D57-6FBB-13A5-0476BE6C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Student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09E1D-9F72-1C87-3A7A-415F956B3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Certificate upload + portfolio management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PDF files, student wallet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IPFS hashes, pending status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Drag-drop file upload (react-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dropzone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SHA256 hashing (crypto-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IPFS upload (Pinata SDK)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6F79B-12A1-1F76-B1BD-8B75C94A541D}"/>
              </a:ext>
            </a:extLst>
          </p:cNvPr>
          <p:cNvSpPr txBox="1"/>
          <p:nvPr/>
        </p:nvSpPr>
        <p:spPr>
          <a:xfrm>
            <a:off x="11645900" y="6151563"/>
            <a:ext cx="66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67079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A9544-F6F1-D849-492B-5143E87F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Faculty Approval Panel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32944-8C2E-E7A0-B879-F24E8B883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Review + approve student submissions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Pending credentials, faculty wallet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Polygon transaction hash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Multi-signature approval (2-of-3)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Smart contract deployment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Notification system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F15089-7A59-80A4-9591-93F0CB18C749}"/>
              </a:ext>
            </a:extLst>
          </p:cNvPr>
          <p:cNvSpPr txBox="1"/>
          <p:nvPr/>
        </p:nvSpPr>
        <p:spPr>
          <a:xfrm>
            <a:off x="11569700" y="6176963"/>
            <a:ext cx="927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474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404B-574E-C954-BF9B-AF8BD8E0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QR Generator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ABC45-7874-6907-5E19-EB830B685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 verifiable portfolio PDFs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Approved transaction hash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PDF + QR code image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pdf-lib document creation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qrcode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QR embeds verification URL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C0C2E-C22E-FC70-8AE1-1855C60B7CBF}"/>
              </a:ext>
            </a:extLst>
          </p:cNvPr>
          <p:cNvSpPr txBox="1"/>
          <p:nvPr/>
        </p:nvSpPr>
        <p:spPr>
          <a:xfrm>
            <a:off x="11518900" y="6219826"/>
            <a:ext cx="93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803311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1936D-9BD6-8574-4655-D0287A1F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Verification Engine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B7744-38B0-68F7-8F18-83681803F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Purpose</a:t>
            </a:r>
            <a:r>
              <a:rPr lang="en-IN" sz="2400" dirty="0"/>
              <a:t>: Public QR code validation</a:t>
            </a:r>
          </a:p>
          <a:p>
            <a:r>
              <a:rPr lang="en-IN" sz="2400" b="1" dirty="0"/>
              <a:t>Inputs</a:t>
            </a:r>
            <a:r>
              <a:rPr lang="en-IN" sz="2400" dirty="0"/>
              <a:t>: QR scan (</a:t>
            </a:r>
            <a:r>
              <a:rPr lang="en-IN" sz="2400" dirty="0" err="1"/>
              <a:t>txHash</a:t>
            </a:r>
            <a:r>
              <a:rPr lang="en-IN" sz="2400" dirty="0"/>
              <a:t>)</a:t>
            </a:r>
          </a:p>
          <a:p>
            <a:r>
              <a:rPr lang="en-IN" sz="2400" b="1" dirty="0"/>
              <a:t>Outputs</a:t>
            </a:r>
            <a:r>
              <a:rPr lang="en-IN" sz="2400" dirty="0"/>
              <a:t>: {valid: true, confidence: 98}</a:t>
            </a:r>
          </a:p>
          <a:p>
            <a:r>
              <a:rPr lang="en-IN" sz="2400" b="1" dirty="0"/>
              <a:t>Key Functions</a:t>
            </a:r>
            <a:r>
              <a:rPr lang="en-IN" sz="2400" dirty="0"/>
              <a:t>:</a:t>
            </a:r>
          </a:p>
          <a:p>
            <a:pPr marL="0" indent="0">
              <a:buNone/>
            </a:pPr>
            <a:r>
              <a:rPr lang="en-IN" sz="2400" dirty="0"/>
              <a:t>    • Web3.js contract call</a:t>
            </a:r>
          </a:p>
          <a:p>
            <a:pPr marL="0" indent="0">
              <a:buNone/>
            </a:pPr>
            <a:r>
              <a:rPr lang="en-IN" sz="2400" dirty="0"/>
              <a:t>    • Confidence scoring algorithm</a:t>
            </a:r>
          </a:p>
          <a:p>
            <a:pPr marL="0" indent="0">
              <a:buNone/>
            </a:pPr>
            <a:r>
              <a:rPr lang="en-IN" sz="2400" dirty="0"/>
              <a:t>    • Portfolio metadata fetch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885D77-00FA-88EE-0E9E-E6AC35040323}"/>
              </a:ext>
            </a:extLst>
          </p:cNvPr>
          <p:cNvSpPr txBox="1"/>
          <p:nvPr/>
        </p:nvSpPr>
        <p:spPr>
          <a:xfrm>
            <a:off x="11645900" y="617696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695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3DF0-7D53-6215-05ED-2F39967C7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 Audit Dashboard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859DC-DC1A-CD8A-9483-02EC9718C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Track verification history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Verification events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Analytics dashboard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MongoDB query + aggregation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Verification log storage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• Faculty usage statistics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9ACAA-FCBA-3830-4BB4-42AC2FBB988F}"/>
              </a:ext>
            </a:extLst>
          </p:cNvPr>
          <p:cNvSpPr txBox="1"/>
          <p:nvPr/>
        </p:nvSpPr>
        <p:spPr>
          <a:xfrm>
            <a:off x="11620500" y="6176963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850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48318-4266-9C4A-FBFE-A6DD33BA8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2762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MODULE DESCRIPTION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016611-D651-CB7D-D482-A74081E18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49" y="1295400"/>
            <a:ext cx="11544301" cy="49018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F30A3B-C2D5-8810-1E71-53475AD051C7}"/>
              </a:ext>
            </a:extLst>
          </p:cNvPr>
          <p:cNvSpPr txBox="1"/>
          <p:nvPr/>
        </p:nvSpPr>
        <p:spPr>
          <a:xfrm rot="10800000" flipH="1" flipV="1">
            <a:off x="11595100" y="6197248"/>
            <a:ext cx="977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7297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73BC-1C9A-FEE7-511E-C6DFD547E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2507A-F683-BF6D-3304-720D7AFAB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257" y="1690688"/>
            <a:ext cx="10907486" cy="4402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ensuring academic integrity with a degree verification system (2025)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https://pmc.ncbi.nlm.nih.gov/articles/PMC11920411/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QR codes + multi-signature consensus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Based Academic Credential Verification System (2025)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https://www.ijert.org/blockchain-based-academic-credential-verification-system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Ethereum smart contracts + mobile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Blockchain-Based Academic Credential Verification System (2024)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https://www.scirp.org/journal/paperinformation?paperid=136384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 verification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B7C9B9-27DA-2276-1444-439921F0AAE0}"/>
              </a:ext>
            </a:extLst>
          </p:cNvPr>
          <p:cNvSpPr/>
          <p:nvPr/>
        </p:nvSpPr>
        <p:spPr>
          <a:xfrm>
            <a:off x="11449725" y="6302829"/>
            <a:ext cx="818108" cy="44964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17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439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753</Words>
  <Application>Microsoft Office PowerPoint</Application>
  <PresentationFormat>Widescreen</PresentationFormat>
  <Paragraphs>127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Times New Roman</vt:lpstr>
      <vt:lpstr>Office Theme</vt:lpstr>
      <vt:lpstr>MINI PROJECT </vt:lpstr>
      <vt:lpstr>ABSTRACT </vt:lpstr>
      <vt:lpstr>PROBLEM STATEMENT</vt:lpstr>
      <vt:lpstr>PROPOSED SOLUTIONS</vt:lpstr>
      <vt:lpstr>LITERATURE SURVEY</vt:lpstr>
      <vt:lpstr>LITERATURE REVIEW - BASE PAPER ANALYSIS</vt:lpstr>
      <vt:lpstr>METHODOLOGY</vt:lpstr>
      <vt:lpstr>PowerPoint Presentation</vt:lpstr>
      <vt:lpstr>Module 1: Student Dashboard</vt:lpstr>
      <vt:lpstr>Module 2: Faculty Approval Panel</vt:lpstr>
      <vt:lpstr>Module 3: QR Generator</vt:lpstr>
      <vt:lpstr>Module 4: Verification Engine</vt:lpstr>
      <vt:lpstr>Module 5: Audit Dashboard</vt:lpstr>
      <vt:lpstr>       MODULE DESCRIPTION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Elakkiee ..</cp:lastModifiedBy>
  <cp:revision>8</cp:revision>
  <dcterms:created xsi:type="dcterms:W3CDTF">2026-01-18T15:52:48Z</dcterms:created>
  <dcterms:modified xsi:type="dcterms:W3CDTF">2026-05-20T09:33:06Z</dcterms:modified>
</cp:coreProperties>
</file>